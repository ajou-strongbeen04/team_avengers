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5" r:id="rId3"/>
    <p:sldId id="257" r:id="rId4"/>
    <p:sldId id="258" r:id="rId5"/>
    <p:sldId id="264" r:id="rId6"/>
    <p:sldId id="260" r:id="rId7"/>
    <p:sldId id="261" r:id="rId8"/>
    <p:sldId id="262" r:id="rId9"/>
    <p:sldId id="266" r:id="rId10"/>
    <p:sldId id="267" r:id="rId11"/>
    <p:sldId id="263" r:id="rId12"/>
    <p:sldId id="268" r:id="rId13"/>
    <p:sldId id="269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21" autoAdjust="0"/>
    <p:restoredTop sz="94658"/>
  </p:normalViewPr>
  <p:slideViewPr>
    <p:cSldViewPr snapToGrid="0">
      <p:cViewPr varScale="1">
        <p:scale>
          <a:sx n="91" d="100"/>
          <a:sy n="91" d="100"/>
        </p:scale>
        <p:origin x="293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DBD634-7E8B-DC4C-BABE-74431F3121F1}" type="datetimeFigureOut">
              <a:rPr kumimoji="1" lang="ko-Kore-KR" altLang="en-US" smtClean="0"/>
              <a:t>08/03/2026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D27122-38CE-9A4F-9D2D-0AD9346109F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07384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ore-KR" altLang="en-US"/>
              <a:t>목적</a:t>
            </a:r>
            <a:r>
              <a:rPr kumimoji="1" lang="en-US" altLang="ko-Kore-KR"/>
              <a:t>:</a:t>
            </a:r>
            <a:r>
              <a:rPr kumimoji="1" lang="ko-KR" altLang="en-US"/>
              <a:t> </a:t>
            </a:r>
            <a:r>
              <a:rPr lang="ko-KR" altLang="en-US" sz="1200"/>
              <a:t>재폭기</a:t>
            </a:r>
            <a:r>
              <a:rPr lang="en-US" altLang="ko-KR" sz="1200"/>
              <a:t> </a:t>
            </a:r>
            <a:r>
              <a:rPr lang="ko-KR" altLang="en-US" sz="1200"/>
              <a:t>위치 또는 측정 위치에 따른 용존산소량 양을 측정</a:t>
            </a:r>
            <a:endParaRPr lang="en-US" altLang="ko-KR" sz="1200"/>
          </a:p>
          <a:p>
            <a:endParaRPr kumimoji="1" lang="ko-Kore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7122-38CE-9A4F-9D2D-0AD9346109F7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88522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FAD52F-0509-6960-3B08-CBF964EF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C5862B-A7FA-256C-B0D5-60965B467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559AC8-850A-7742-4291-3BB74DA88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6F5C7-8084-4262-8554-4B57968F493D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8C8B9C-1E55-30A9-A3A0-A4129BA6C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C22950-E46B-5361-2308-65D11A8A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3CE4D-0032-4A45-900D-2BA00CC83B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461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14C5F0-0C94-9D23-D12F-396B4423A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CA9B1C-4E15-5FA6-F5A5-930F78D46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E51AE7-A0AD-E822-D4D5-A3DE8F6A1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6F5C7-8084-4262-8554-4B57968F493D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02FACD-5474-5A78-BA83-15AAFA568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6B15FD-A57F-9384-5DD9-6F6529343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3CE4D-0032-4A45-900D-2BA00CC83B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37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6ADD5-BEC8-03C9-B9DA-74B55D865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0966E8-E00C-3288-D1EC-8143F7D03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DAC4AD-50BF-BD6B-EEED-5D5CA11A2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6F5C7-8084-4262-8554-4B57968F493D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5917E7-C3C5-A8EF-447F-3FB562E76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F126D3-587F-2B39-6191-AA575AEFF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3CE4D-0032-4A45-900D-2BA00CC83B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944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960F08-3BDC-F980-ECD7-332EE1E97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A57416-553A-532C-9F88-CBB1F8F463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F949FA-F574-8582-9E24-E34B15FE8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A90701-478F-D795-7670-52E5C387E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6F5C7-8084-4262-8554-4B57968F493D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220E74-5701-C68A-E978-BF46D5B1D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378EEC-5361-3911-C9B4-3C4398040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3CE4D-0032-4A45-900D-2BA00CC83B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7775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B2B8DB-379D-E659-4F40-E33F028DA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88699A-3769-2934-28A1-EEDC7800F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E4936E0-8CA0-598E-BD11-D1DBDD77C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3EA0FF2-8ABE-3CC9-0C75-3B62F33027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9E11B14-C362-9B13-A6F0-3A6E2C660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BFC2240-8BC5-5E5A-2E72-ED576AFC2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6F5C7-8084-4262-8554-4B57968F493D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2759C54-A58F-2A70-27DA-5F69CA846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B1E9EA-C348-DF3F-DB52-E073463F5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3CE4D-0032-4A45-900D-2BA00CC83B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311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AA5671-1966-8345-C5D2-4D62F18B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9D40A7D-8BBE-D5CA-36D5-CF040EAF4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6F5C7-8084-4262-8554-4B57968F493D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07ABAD-CCF7-86C3-0C0A-7EEF6B060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9AA4E1-1A00-CA31-DA80-BA84EF40D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3CE4D-0032-4A45-900D-2BA00CC83B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0247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B9D824A-56EB-8103-BB8B-FC3DBE55C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6F5C7-8084-4262-8554-4B57968F493D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4D64402-D2B4-810F-3EAE-59493A5F3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03729D-F1B3-D18F-E18E-44AED098E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3CE4D-0032-4A45-900D-2BA00CC83B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15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12B8B9-B742-B37F-4E60-21C70B69E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FE5820-40E3-798B-8E2A-5CFCBDBF4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91F3D1-3753-7126-00F5-7D3A0F317C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F72A90-CD23-0CAE-44B6-B57DC8AE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6F5C7-8084-4262-8554-4B57968F493D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71D242-DF0C-8BA1-F9AD-7D20D9B74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AEECF2-5D7F-9F19-70B8-96356315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3CE4D-0032-4A45-900D-2BA00CC83B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22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8C575A-F995-A5D8-DA31-08BB3855A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C9B63B3-9C5F-DEE8-FDA0-DB6BB761D3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293EBE-11EC-CAA0-63B5-87EF9E3D7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E849F8-2081-0521-A59C-11DF91F4E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6F5C7-8084-4262-8554-4B57968F493D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666392-D220-8FAC-A0C8-DB48DF72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BB3F97-D81B-E982-6D99-CD25CE0CB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3CE4D-0032-4A45-900D-2BA00CC83B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461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782101-420C-211A-104D-8918B07AC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1E74B6-52C9-39D5-ED2C-047A4F66E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036256-766C-C18E-8D1C-EBB320D1C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6F5C7-8084-4262-8554-4B57968F493D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2BD8D3-A1AF-DD04-B586-E618C20E8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28E754-3245-7A08-BC6B-A3A34ECC1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3CE4D-0032-4A45-900D-2BA00CC83B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17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CC5EA54-E9F9-6576-59AE-6D9920E3E2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C02749-CE1B-43C3-CA5B-57B42BD38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9BC32B-0226-74CC-AF97-A8DB0005A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6F5C7-8084-4262-8554-4B57968F493D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33A5DD-FB8E-8F25-C832-7DD6925DC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50D27A-5679-52E1-F8C5-FC9F71EE8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3CE4D-0032-4A45-900D-2BA00CC83B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350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8228725-C258-FAEF-7E21-A0AFEAA46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70134B-0AF3-1145-513A-DA653931C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B216A4-5478-C3FA-2235-D891DA39CA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66F5C7-8084-4262-8554-4B57968F493D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F316DF-9A87-0E27-C98E-677ABC31D9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CB82C-6718-96F0-2265-C6A071362E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13CE4D-0032-4A45-900D-2BA00CC83B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864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4FB29-799B-0925-C1E6-F32062F22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26364"/>
            <a:ext cx="12192000" cy="1809589"/>
          </a:xfrm>
        </p:spPr>
        <p:txBody>
          <a:bodyPr anchor="ctr"/>
          <a:lstStyle/>
          <a:p>
            <a:r>
              <a:rPr lang="en-US" altLang="ko-KR" dirty="0"/>
              <a:t>2</a:t>
            </a:r>
            <a:r>
              <a:rPr lang="ko-KR" altLang="en-US" dirty="0"/>
              <a:t>차 모임 현황 보고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8536C68-72E7-3B51-F754-64115F817F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06039"/>
            <a:ext cx="9144000" cy="1655762"/>
          </a:xfrm>
        </p:spPr>
        <p:txBody>
          <a:bodyPr anchor="ctr"/>
          <a:lstStyle/>
          <a:p>
            <a:r>
              <a:rPr lang="en-US" altLang="ko-KR" dirty="0"/>
              <a:t>2026.8.4 (</a:t>
            </a:r>
            <a:r>
              <a:rPr lang="ko-KR" altLang="en-US" dirty="0"/>
              <a:t>화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1650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AF8552-128D-F811-F1BC-2061ADCCC2D9}"/>
              </a:ext>
            </a:extLst>
          </p:cNvPr>
          <p:cNvSpPr txBox="1"/>
          <p:nvPr/>
        </p:nvSpPr>
        <p:spPr>
          <a:xfrm>
            <a:off x="0" y="138418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/>
              <a:t>0. </a:t>
            </a:r>
            <a:r>
              <a:rPr lang="ko-KR" altLang="en-US" sz="6000" dirty="0"/>
              <a:t>주제 확정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E0B4C9-3081-A53C-12AF-3273F7359C6C}"/>
              </a:ext>
            </a:extLst>
          </p:cNvPr>
          <p:cNvSpPr txBox="1"/>
          <p:nvPr/>
        </p:nvSpPr>
        <p:spPr>
          <a:xfrm>
            <a:off x="0" y="1346433"/>
            <a:ext cx="597296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목표</a:t>
            </a:r>
            <a:r>
              <a:rPr lang="en-US" altLang="ko-KR" sz="2400" dirty="0"/>
              <a:t>: </a:t>
            </a:r>
            <a:r>
              <a:rPr lang="ko-KR" altLang="en-US" sz="2400" dirty="0"/>
              <a:t>관상어 건강 상태 및 수중 상태를 진단하는 하드웨어</a:t>
            </a:r>
            <a:r>
              <a:rPr lang="en-US" altLang="ko-KR" sz="2400" dirty="0"/>
              <a:t>+</a:t>
            </a:r>
            <a:r>
              <a:rPr lang="ko-KR" altLang="en-US" sz="2400" dirty="0"/>
              <a:t>소프트웨어 제품 만들기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기존 제품과의 차별성</a:t>
            </a:r>
            <a:r>
              <a:rPr lang="en-US" altLang="ko-KR" sz="2400" dirty="0"/>
              <a:t> </a:t>
            </a:r>
          </a:p>
          <a:p>
            <a:r>
              <a:rPr lang="en-US" altLang="ko-KR" sz="2400" dirty="0"/>
              <a:t>1. </a:t>
            </a:r>
            <a:r>
              <a:rPr lang="ko-KR" altLang="en-US" sz="2400" dirty="0"/>
              <a:t>초기비용이 많이 들어가는 스마트 어항에 비해 가격 우위有</a:t>
            </a:r>
            <a:endParaRPr lang="en-US" altLang="ko-KR" sz="2400" dirty="0"/>
          </a:p>
          <a:p>
            <a:r>
              <a:rPr lang="en-US" altLang="ko-KR" sz="2400" dirty="0"/>
              <a:t>2. AI</a:t>
            </a:r>
            <a:r>
              <a:rPr lang="ko-KR" altLang="en-US" sz="2400" dirty="0"/>
              <a:t>연산을 통한 용존산소량 도출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하드웨어</a:t>
            </a:r>
            <a:r>
              <a:rPr lang="en-US" altLang="ko-KR" sz="2400" dirty="0"/>
              <a:t>: </a:t>
            </a:r>
            <a:r>
              <a:rPr lang="ko-KR" altLang="en-US" sz="2400" dirty="0"/>
              <a:t>수온과 </a:t>
            </a:r>
            <a:r>
              <a:rPr lang="ko-KR" altLang="en-US" sz="2400" dirty="0" err="1"/>
              <a:t>탁도를</a:t>
            </a:r>
            <a:r>
              <a:rPr lang="ko-KR" altLang="en-US" sz="2400" dirty="0"/>
              <a:t> 측정하는 센서</a:t>
            </a:r>
            <a:r>
              <a:rPr lang="en-US" altLang="ko-KR" sz="2400" dirty="0"/>
              <a:t>+</a:t>
            </a:r>
            <a:r>
              <a:rPr lang="ko-KR" altLang="en-US" sz="2400" dirty="0"/>
              <a:t>데이터 송신 모듈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소프트웨어</a:t>
            </a:r>
            <a:r>
              <a:rPr lang="en-US" altLang="ko-KR" sz="2400" dirty="0"/>
              <a:t>: </a:t>
            </a:r>
            <a:r>
              <a:rPr lang="ko-KR" altLang="en-US" sz="2400" dirty="0"/>
              <a:t>스마트폰 어플리케이션을 통해 데이터 분석 및 사용자에게 정보 전달</a:t>
            </a:r>
            <a:endParaRPr lang="en-US" altLang="ko-KR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F480F4A-AFFF-13D0-D818-02E8B2C3B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359" y="0"/>
            <a:ext cx="62686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453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C64D58-A125-46A1-AC2F-D0A97DED0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409AE9A-5C03-BF73-4F4E-0B268AB4FF92}"/>
              </a:ext>
            </a:extLst>
          </p:cNvPr>
          <p:cNvSpPr txBox="1"/>
          <p:nvPr/>
        </p:nvSpPr>
        <p:spPr>
          <a:xfrm>
            <a:off x="876693" y="741391"/>
            <a:ext cx="3455821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1-1. </a:t>
            </a:r>
            <a:r>
              <a:rPr lang="ko-KR" alt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실험 범위 확정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9CC9C6-BD82-2917-3D7F-79490F57C358}"/>
              </a:ext>
            </a:extLst>
          </p:cNvPr>
          <p:cNvSpPr txBox="1"/>
          <p:nvPr/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000"/>
              <a:t>목적</a:t>
            </a:r>
            <a:r>
              <a:rPr lang="en-US" altLang="ko-KR" sz="2000"/>
              <a:t>:</a:t>
            </a:r>
            <a:r>
              <a:rPr lang="ko-KR" altLang="en-US" sz="2000"/>
              <a:t> 근사식의 허용 범위 확정</a:t>
            </a:r>
            <a:endParaRPr lang="en-US" altLang="ko-KR" sz="200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493FE72-982D-CE29-BC2E-1BCBB9437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2" y="965770"/>
            <a:ext cx="6389346" cy="493576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2936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29347-7E6D-0435-6B83-77C3BCE6C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EE8FC3-EA7D-F3B0-F7B0-8EE711EECC49}"/>
              </a:ext>
            </a:extLst>
          </p:cNvPr>
          <p:cNvSpPr txBox="1"/>
          <p:nvPr/>
        </p:nvSpPr>
        <p:spPr>
          <a:xfrm>
            <a:off x="0" y="159390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/>
              <a:t>1-2. </a:t>
            </a:r>
            <a:r>
              <a:rPr lang="ko-KR" altLang="en-US" sz="6000" dirty="0" err="1"/>
              <a:t>재폭기</a:t>
            </a:r>
            <a:r>
              <a:rPr lang="ko-KR" altLang="en-US" sz="6000" dirty="0"/>
              <a:t> </a:t>
            </a:r>
            <a:r>
              <a:rPr lang="ko-KR" altLang="en-US" sz="6000"/>
              <a:t>구동 실험</a:t>
            </a:r>
            <a:endParaRPr lang="ko-KR" altLang="en-US" sz="6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6FBBFD-C154-250B-0B26-6EE64DEBF27D}"/>
              </a:ext>
            </a:extLst>
          </p:cNvPr>
          <p:cNvSpPr txBox="1"/>
          <p:nvPr/>
        </p:nvSpPr>
        <p:spPr>
          <a:xfrm>
            <a:off x="0" y="1267121"/>
            <a:ext cx="1148033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dirty="0"/>
              <a:t>그룹</a:t>
            </a:r>
            <a:r>
              <a:rPr lang="en-US" altLang="ko-KR" sz="3200" dirty="0"/>
              <a:t>1: </a:t>
            </a:r>
            <a:r>
              <a:rPr lang="ko-KR" altLang="en-US" sz="3200" dirty="0" err="1"/>
              <a:t>재폭기</a:t>
            </a:r>
            <a:r>
              <a:rPr lang="ko-KR" altLang="en-US" sz="3200" dirty="0"/>
              <a:t> 위치를 달리한 케이스 </a:t>
            </a:r>
            <a:r>
              <a:rPr lang="en-US" altLang="ko-KR" sz="3200" dirty="0"/>
              <a:t>3</a:t>
            </a:r>
            <a:r>
              <a:rPr lang="ko-KR" altLang="en-US" sz="3200" dirty="0"/>
              <a:t>가지 </a:t>
            </a:r>
            <a:endParaRPr lang="en-US" altLang="ko-KR" sz="3200" dirty="0"/>
          </a:p>
          <a:p>
            <a:r>
              <a:rPr lang="en-US" altLang="ko-KR" sz="3200" dirty="0"/>
              <a:t>(</a:t>
            </a:r>
            <a:r>
              <a:rPr lang="ko-KR" altLang="en-US" sz="3200" dirty="0"/>
              <a:t>측정 위치는 고정</a:t>
            </a:r>
            <a:r>
              <a:rPr lang="en-US" altLang="ko-KR" sz="3200" dirty="0"/>
              <a:t>, </a:t>
            </a:r>
            <a:r>
              <a:rPr lang="ko-KR" altLang="en-US" sz="3200" dirty="0"/>
              <a:t>높이</a:t>
            </a:r>
            <a:r>
              <a:rPr lang="en-US" altLang="ko-KR" sz="3200" dirty="0"/>
              <a:t>(z</a:t>
            </a:r>
            <a:r>
              <a:rPr lang="ko-KR" altLang="en-US" sz="3200" dirty="0"/>
              <a:t>축</a:t>
            </a:r>
            <a:r>
              <a:rPr lang="en-US" altLang="ko-KR" sz="3200" dirty="0"/>
              <a:t>)</a:t>
            </a:r>
            <a:r>
              <a:rPr lang="ko-KR" altLang="en-US" sz="3200" dirty="0"/>
              <a:t>만 다르게 함</a:t>
            </a:r>
            <a:r>
              <a:rPr lang="en-US" altLang="ko-KR" sz="3200" dirty="0"/>
              <a:t>)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6F11CF4-4713-D2F0-E3E7-B8985F076183}"/>
              </a:ext>
            </a:extLst>
          </p:cNvPr>
          <p:cNvGrpSpPr/>
          <p:nvPr/>
        </p:nvGrpSpPr>
        <p:grpSpPr>
          <a:xfrm>
            <a:off x="0" y="2344339"/>
            <a:ext cx="11015330" cy="3919565"/>
            <a:chOff x="0" y="1267121"/>
            <a:chExt cx="11518084" cy="499678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B1AED0D-729A-3D84-E8D8-7CCD5842E45F}"/>
                </a:ext>
              </a:extLst>
            </p:cNvPr>
            <p:cNvSpPr txBox="1"/>
            <p:nvPr/>
          </p:nvSpPr>
          <p:spPr>
            <a:xfrm>
              <a:off x="0" y="1267121"/>
              <a:ext cx="1151808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3200" dirty="0"/>
                <a:t>그룹</a:t>
              </a:r>
              <a:r>
                <a:rPr lang="en-US" altLang="ko-KR" sz="3200" dirty="0"/>
                <a:t>2: </a:t>
              </a:r>
              <a:r>
                <a:rPr lang="ko-KR" altLang="en-US" sz="3200" dirty="0"/>
                <a:t>측정 위치를 달리한 케이스 </a:t>
              </a:r>
              <a:r>
                <a:rPr lang="en-US" altLang="ko-KR" sz="3200" dirty="0"/>
                <a:t>3</a:t>
              </a:r>
              <a:r>
                <a:rPr lang="ko-KR" altLang="en-US" sz="3200" dirty="0"/>
                <a:t>가지 </a:t>
              </a:r>
              <a:r>
                <a:rPr lang="en-US" altLang="ko-KR" sz="3200" dirty="0"/>
                <a:t>(</a:t>
              </a:r>
              <a:r>
                <a:rPr lang="ko-KR" altLang="en-US" sz="3200" dirty="0" err="1"/>
                <a:t>재폭기</a:t>
              </a:r>
              <a:r>
                <a:rPr lang="ko-KR" altLang="en-US" sz="3200" dirty="0"/>
                <a:t> 위치는 고정</a:t>
              </a:r>
              <a:r>
                <a:rPr lang="en-US" altLang="ko-KR" sz="3200" dirty="0"/>
                <a:t>)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A77711D-4B37-A751-7272-51C77AF84EDE}"/>
                </a:ext>
              </a:extLst>
            </p:cNvPr>
            <p:cNvSpPr/>
            <p:nvPr/>
          </p:nvSpPr>
          <p:spPr>
            <a:xfrm>
              <a:off x="2680281" y="2818702"/>
              <a:ext cx="6283355" cy="287742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E33BAE7D-0460-C05E-1163-FE228D5CFBE2}"/>
                </a:ext>
              </a:extLst>
            </p:cNvPr>
            <p:cNvSpPr/>
            <p:nvPr/>
          </p:nvSpPr>
          <p:spPr>
            <a:xfrm>
              <a:off x="8338656" y="4951410"/>
              <a:ext cx="1249960" cy="1312494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재폭기</a:t>
              </a:r>
              <a:r>
                <a:rPr lang="ko-KR" altLang="en-US" dirty="0"/>
                <a:t> 위치</a:t>
              </a:r>
              <a:endParaRPr lang="en-US" altLang="ko-KR" dirty="0"/>
            </a:p>
            <a:p>
              <a:pPr algn="ctr"/>
              <a:r>
                <a:rPr lang="ko-KR" altLang="en-US" dirty="0"/>
                <a:t>고정</a:t>
              </a:r>
              <a:endParaRPr lang="en-US" altLang="ko-KR" dirty="0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78B100AC-B86B-015E-628E-2AF737771B52}"/>
                </a:ext>
              </a:extLst>
            </p:cNvPr>
            <p:cNvSpPr/>
            <p:nvPr/>
          </p:nvSpPr>
          <p:spPr>
            <a:xfrm>
              <a:off x="2055301" y="4951410"/>
              <a:ext cx="1249960" cy="131249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측정</a:t>
              </a:r>
              <a:endParaRPr lang="en-US" altLang="ko-KR" dirty="0"/>
            </a:p>
            <a:p>
              <a:pPr algn="ctr"/>
              <a:r>
                <a:rPr lang="ko-KR" altLang="en-US" dirty="0"/>
                <a:t>위치</a:t>
              </a:r>
              <a:endParaRPr lang="en-US" altLang="ko-KR" dirty="0"/>
            </a:p>
            <a:p>
              <a:pPr algn="ctr"/>
              <a:r>
                <a:rPr lang="en-US" altLang="ko-KR" dirty="0"/>
                <a:t>1</a:t>
              </a: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096880-0F13-018B-BD70-205AA81DC11B}"/>
                </a:ext>
              </a:extLst>
            </p:cNvPr>
            <p:cNvSpPr/>
            <p:nvPr/>
          </p:nvSpPr>
          <p:spPr>
            <a:xfrm>
              <a:off x="8338656" y="2162455"/>
              <a:ext cx="1249960" cy="131249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측정</a:t>
              </a:r>
              <a:endParaRPr lang="en-US" altLang="ko-KR" dirty="0"/>
            </a:p>
            <a:p>
              <a:pPr algn="ctr"/>
              <a:r>
                <a:rPr lang="ko-KR" altLang="en-US" dirty="0"/>
                <a:t>위치</a:t>
              </a:r>
              <a:endParaRPr lang="en-US" altLang="ko-KR" dirty="0"/>
            </a:p>
            <a:p>
              <a:pPr algn="ctr"/>
              <a:r>
                <a:rPr lang="en-US" altLang="ko-KR" dirty="0"/>
                <a:t>2</a:t>
              </a: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824EBD5F-AB46-C761-5972-87A0D1FE2451}"/>
                </a:ext>
              </a:extLst>
            </p:cNvPr>
            <p:cNvSpPr/>
            <p:nvPr/>
          </p:nvSpPr>
          <p:spPr>
            <a:xfrm>
              <a:off x="2055301" y="2162455"/>
              <a:ext cx="1249960" cy="131249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측정</a:t>
              </a:r>
              <a:endParaRPr lang="en-US" altLang="ko-KR" dirty="0"/>
            </a:p>
            <a:p>
              <a:pPr algn="ctr"/>
              <a:r>
                <a:rPr lang="ko-KR" altLang="en-US" dirty="0"/>
                <a:t>위치</a:t>
              </a:r>
              <a:endParaRPr lang="en-US" altLang="ko-KR" dirty="0"/>
            </a:p>
            <a:p>
              <a:pPr algn="ctr"/>
              <a:r>
                <a:rPr lang="en-US" altLang="ko-KR" dirty="0"/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4058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75A2A-BD5E-AF66-7A12-FC55FA5DD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B9254D-FBC4-DBCC-6D9A-CFF3EA760F85}"/>
              </a:ext>
            </a:extLst>
          </p:cNvPr>
          <p:cNvSpPr txBox="1"/>
          <p:nvPr/>
        </p:nvSpPr>
        <p:spPr>
          <a:xfrm>
            <a:off x="0" y="159390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/>
              <a:t>1-3.</a:t>
            </a:r>
            <a:r>
              <a:rPr lang="ko-KR" altLang="en-US" sz="6000"/>
              <a:t> 기하 인식 오차</a:t>
            </a:r>
            <a:endParaRPr lang="ko-KR" altLang="en-US" sz="6000" dirty="0"/>
          </a:p>
        </p:txBody>
      </p:sp>
    </p:spTree>
    <p:extLst>
      <p:ext uri="{BB962C8B-B14F-4D97-AF65-F5344CB8AC3E}">
        <p14:creationId xmlns:p14="http://schemas.microsoft.com/office/powerpoint/2010/main" val="2090517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369C1-C407-C984-1220-F47E62BA3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25DE90-4F77-7C6B-E13C-8D1BF7F03238}"/>
              </a:ext>
            </a:extLst>
          </p:cNvPr>
          <p:cNvSpPr txBox="1"/>
          <p:nvPr/>
        </p:nvSpPr>
        <p:spPr>
          <a:xfrm>
            <a:off x="0" y="159390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/>
              <a:t>2. </a:t>
            </a:r>
            <a:r>
              <a:rPr lang="ko-KR" altLang="en-US" sz="6000" dirty="0"/>
              <a:t>앱 설계</a:t>
            </a:r>
            <a:r>
              <a:rPr lang="en-US" altLang="ko-KR" sz="6000" dirty="0"/>
              <a:t>-</a:t>
            </a:r>
            <a:r>
              <a:rPr lang="ko-KR" altLang="en-US" sz="6000" dirty="0"/>
              <a:t>센서 연동 작동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52135E-E203-CA33-B5D3-18014FFBF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13"/>
          <a:stretch>
            <a:fillRect/>
          </a:stretch>
        </p:blipFill>
        <p:spPr>
          <a:xfrm>
            <a:off x="1703582" y="2428614"/>
            <a:ext cx="2793641" cy="4429386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F81F189-CE0B-7057-8D46-88DF07946694}"/>
              </a:ext>
            </a:extLst>
          </p:cNvPr>
          <p:cNvSpPr/>
          <p:nvPr/>
        </p:nvSpPr>
        <p:spPr>
          <a:xfrm>
            <a:off x="1498778" y="1564547"/>
            <a:ext cx="3203251" cy="8053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초기 화면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ECD7C19-C351-716B-631F-572988CC9FB3}"/>
              </a:ext>
            </a:extLst>
          </p:cNvPr>
          <p:cNvSpPr/>
          <p:nvPr/>
        </p:nvSpPr>
        <p:spPr>
          <a:xfrm>
            <a:off x="5217954" y="1564547"/>
            <a:ext cx="6388216" cy="4110605"/>
          </a:xfrm>
          <a:prstGeom prst="roundRect">
            <a:avLst>
              <a:gd name="adj" fmla="val 378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어항의 사이즈를 사용자가 설정할 수 있음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어항 사진을 넣어서 </a:t>
            </a:r>
            <a:r>
              <a:rPr lang="en-US" altLang="ko-KR" dirty="0"/>
              <a:t>AI</a:t>
            </a:r>
            <a:r>
              <a:rPr lang="ko-KR" altLang="en-US" dirty="0"/>
              <a:t>를 통해 장애물들의 위치를 결정함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3BB9CF1-62C6-4EB0-DD30-7280E301BA38}"/>
              </a:ext>
            </a:extLst>
          </p:cNvPr>
          <p:cNvSpPr/>
          <p:nvPr/>
        </p:nvSpPr>
        <p:spPr>
          <a:xfrm>
            <a:off x="6810436" y="1700169"/>
            <a:ext cx="3203251" cy="8053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주요 기능</a:t>
            </a:r>
          </a:p>
        </p:txBody>
      </p:sp>
    </p:spTree>
    <p:extLst>
      <p:ext uri="{BB962C8B-B14F-4D97-AF65-F5344CB8AC3E}">
        <p14:creationId xmlns:p14="http://schemas.microsoft.com/office/powerpoint/2010/main" val="3604777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D188C-2240-CAD8-16FF-AB45E1498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F49580-4382-F556-87B7-BC0DBD1A0D68}"/>
              </a:ext>
            </a:extLst>
          </p:cNvPr>
          <p:cNvSpPr txBox="1"/>
          <p:nvPr/>
        </p:nvSpPr>
        <p:spPr>
          <a:xfrm>
            <a:off x="0" y="159390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/>
              <a:t>2. </a:t>
            </a:r>
            <a:r>
              <a:rPr lang="ko-KR" altLang="en-US" sz="6000" dirty="0"/>
              <a:t>앱 설계</a:t>
            </a:r>
            <a:r>
              <a:rPr lang="en-US" altLang="ko-KR" sz="6000" dirty="0"/>
              <a:t>-</a:t>
            </a:r>
            <a:r>
              <a:rPr lang="ko-KR" altLang="en-US" sz="6000" dirty="0"/>
              <a:t>센서 연동 작동 확인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A11A212-546F-971E-506B-25EACE68FC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498"/>
          <a:stretch>
            <a:fillRect/>
          </a:stretch>
        </p:blipFill>
        <p:spPr>
          <a:xfrm>
            <a:off x="1624584" y="2160165"/>
            <a:ext cx="2860811" cy="4697835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CF6B278-D6A7-3C68-3620-E41B65BA59B4}"/>
              </a:ext>
            </a:extLst>
          </p:cNvPr>
          <p:cNvSpPr/>
          <p:nvPr/>
        </p:nvSpPr>
        <p:spPr>
          <a:xfrm>
            <a:off x="1453363" y="1300590"/>
            <a:ext cx="3203251" cy="8053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센서 연결 및 탐색 단계</a:t>
            </a:r>
            <a:endParaRPr lang="en-US" altLang="ko-KR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337CB3B-49DB-EA70-F0FB-7C3DD1C83526}"/>
              </a:ext>
            </a:extLst>
          </p:cNvPr>
          <p:cNvSpPr/>
          <p:nvPr/>
        </p:nvSpPr>
        <p:spPr>
          <a:xfrm>
            <a:off x="5217954" y="1567640"/>
            <a:ext cx="6388216" cy="4110605"/>
          </a:xfrm>
          <a:prstGeom prst="roundRect">
            <a:avLst>
              <a:gd name="adj" fmla="val 378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 err="1"/>
              <a:t>Wifi</a:t>
            </a:r>
            <a:r>
              <a:rPr lang="ko-KR" altLang="en-US" dirty="0"/>
              <a:t>나 </a:t>
            </a:r>
            <a:r>
              <a:rPr lang="en-US" altLang="ko-KR" dirty="0"/>
              <a:t>Bluetooth</a:t>
            </a:r>
            <a:r>
              <a:rPr lang="ko-KR" altLang="en-US" dirty="0"/>
              <a:t>를 통해 센서와 연결 가능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센서로부터 받은 데이터를 토대로 </a:t>
            </a:r>
            <a:r>
              <a:rPr lang="en-US" altLang="ko-KR" dirty="0"/>
              <a:t>AI</a:t>
            </a:r>
            <a:r>
              <a:rPr lang="ko-KR" altLang="en-US" dirty="0"/>
              <a:t>연산 </a:t>
            </a:r>
            <a:endParaRPr lang="en-US" altLang="ko-KR" dirty="0"/>
          </a:p>
          <a:p>
            <a:pPr algn="ctr"/>
            <a:r>
              <a:rPr lang="ko-KR" altLang="en-US" dirty="0" err="1"/>
              <a:t>에</a:t>
            </a:r>
            <a:r>
              <a:rPr lang="ko-KR" altLang="en-US" dirty="0"/>
              <a:t> 활용하거나 스마트폰 어플리케이션에 나타냄</a:t>
            </a:r>
            <a:r>
              <a:rPr lang="en-US" altLang="ko-KR" dirty="0"/>
              <a:t>.</a:t>
            </a:r>
            <a:r>
              <a:rPr lang="ko-KR" altLang="en-US" dirty="0"/>
              <a:t>  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BC655D5-F175-D3FD-6F51-73A2E09D6380}"/>
              </a:ext>
            </a:extLst>
          </p:cNvPr>
          <p:cNvSpPr/>
          <p:nvPr/>
        </p:nvSpPr>
        <p:spPr>
          <a:xfrm>
            <a:off x="6810436" y="1703262"/>
            <a:ext cx="3203251" cy="8053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주요 기능</a:t>
            </a:r>
          </a:p>
        </p:txBody>
      </p:sp>
    </p:spTree>
    <p:extLst>
      <p:ext uri="{BB962C8B-B14F-4D97-AF65-F5344CB8AC3E}">
        <p14:creationId xmlns:p14="http://schemas.microsoft.com/office/powerpoint/2010/main" val="223357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B6BB5-C5DF-5B86-8B51-C9B6E004A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14F9BF6-1D9C-B5A1-17F9-D7A75382B7E9}"/>
              </a:ext>
            </a:extLst>
          </p:cNvPr>
          <p:cNvSpPr/>
          <p:nvPr/>
        </p:nvSpPr>
        <p:spPr>
          <a:xfrm>
            <a:off x="5217954" y="1564547"/>
            <a:ext cx="6388216" cy="4110605"/>
          </a:xfrm>
          <a:prstGeom prst="roundRect">
            <a:avLst>
              <a:gd name="adj" fmla="val 378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자신이 키우는 물고기의 종류</a:t>
            </a:r>
            <a:r>
              <a:rPr lang="en-US" altLang="ko-KR" dirty="0"/>
              <a:t> </a:t>
            </a:r>
            <a:r>
              <a:rPr lang="ko-KR" altLang="en-US" dirty="0"/>
              <a:t>및 이름 설정 가능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먹이 급여 시간 설정 가능</a:t>
            </a:r>
            <a:r>
              <a:rPr lang="en-US" altLang="ko-KR" dirty="0"/>
              <a:t>. (</a:t>
            </a:r>
            <a:r>
              <a:rPr lang="ko-KR" altLang="en-US" dirty="0"/>
              <a:t>자동 급여는 </a:t>
            </a:r>
            <a:r>
              <a:rPr lang="en-US" altLang="ko-KR" dirty="0"/>
              <a:t>X)</a:t>
            </a:r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먹이와 물고기 건강상태 알림 설정 가능</a:t>
            </a:r>
            <a:r>
              <a:rPr lang="en-US" altLang="ko-KR" dirty="0"/>
              <a:t>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EC58F0D-42DD-278E-B126-50CC5B8730C0}"/>
              </a:ext>
            </a:extLst>
          </p:cNvPr>
          <p:cNvSpPr/>
          <p:nvPr/>
        </p:nvSpPr>
        <p:spPr>
          <a:xfrm>
            <a:off x="6810436" y="1700169"/>
            <a:ext cx="3203251" cy="8053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주요 기능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49C2014-A264-7023-52CF-4EDCF7028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80" t="4037" r="1080" b="2323"/>
          <a:stretch>
            <a:fillRect/>
          </a:stretch>
        </p:blipFill>
        <p:spPr>
          <a:xfrm>
            <a:off x="752158" y="425739"/>
            <a:ext cx="3107464" cy="6421772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A7281CC-EBCB-F160-526B-0E194C2B8C9C}"/>
              </a:ext>
            </a:extLst>
          </p:cNvPr>
          <p:cNvSpPr/>
          <p:nvPr/>
        </p:nvSpPr>
        <p:spPr>
          <a:xfrm>
            <a:off x="704264" y="23067"/>
            <a:ext cx="3203251" cy="8053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물고기 프로필 설정 화면</a:t>
            </a:r>
          </a:p>
        </p:txBody>
      </p:sp>
    </p:spTree>
    <p:extLst>
      <p:ext uri="{BB962C8B-B14F-4D97-AF65-F5344CB8AC3E}">
        <p14:creationId xmlns:p14="http://schemas.microsoft.com/office/powerpoint/2010/main" val="3460704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128DF-C544-7C2A-7A67-2A8CFBB45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C3C83A-BE07-02AF-8F71-69A291E439D9}"/>
              </a:ext>
            </a:extLst>
          </p:cNvPr>
          <p:cNvSpPr txBox="1"/>
          <p:nvPr/>
        </p:nvSpPr>
        <p:spPr>
          <a:xfrm>
            <a:off x="0" y="159390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/>
              <a:t>2. </a:t>
            </a:r>
            <a:r>
              <a:rPr lang="ko-KR" altLang="en-US" sz="6000" dirty="0"/>
              <a:t>앱 설계</a:t>
            </a:r>
            <a:r>
              <a:rPr lang="en-US" altLang="ko-KR" sz="6000" dirty="0"/>
              <a:t>-</a:t>
            </a:r>
            <a:r>
              <a:rPr lang="ko-KR" altLang="en-US" sz="6000" dirty="0"/>
              <a:t>센서 연동 작동 확인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0A9D6B5-A64C-8887-2029-48668AAA7110}"/>
              </a:ext>
            </a:extLst>
          </p:cNvPr>
          <p:cNvSpPr/>
          <p:nvPr/>
        </p:nvSpPr>
        <p:spPr>
          <a:xfrm>
            <a:off x="5217954" y="1564547"/>
            <a:ext cx="6388216" cy="4110605"/>
          </a:xfrm>
          <a:prstGeom prst="roundRect">
            <a:avLst>
              <a:gd name="adj" fmla="val 378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수온</a:t>
            </a:r>
            <a:r>
              <a:rPr lang="en-US" altLang="ko-KR" dirty="0"/>
              <a:t>, </a:t>
            </a:r>
            <a:r>
              <a:rPr lang="ko-KR" altLang="en-US" dirty="0"/>
              <a:t>탁도</a:t>
            </a:r>
            <a:r>
              <a:rPr lang="en-US" altLang="ko-KR" dirty="0"/>
              <a:t>, </a:t>
            </a:r>
            <a:r>
              <a:rPr lang="ko-KR" altLang="en-US" dirty="0"/>
              <a:t>종합 건강상태</a:t>
            </a:r>
            <a:r>
              <a:rPr lang="en-US" altLang="ko-KR" dirty="0"/>
              <a:t>, </a:t>
            </a:r>
            <a:r>
              <a:rPr lang="ko-KR" altLang="en-US" dirty="0"/>
              <a:t>알림 예정 </a:t>
            </a:r>
            <a:r>
              <a:rPr lang="ko-KR" altLang="en-US" dirty="0" err="1"/>
              <a:t>상태란</a:t>
            </a:r>
            <a:r>
              <a:rPr lang="en-US" altLang="ko-KR" dirty="0"/>
              <a:t>, AI</a:t>
            </a:r>
            <a:r>
              <a:rPr lang="ko-KR" altLang="en-US" dirty="0"/>
              <a:t>상담 기능</a:t>
            </a:r>
            <a:r>
              <a:rPr lang="en-US" altLang="ko-KR" dirty="0"/>
              <a:t>.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AI</a:t>
            </a:r>
            <a:r>
              <a:rPr lang="ko-KR" altLang="en-US" dirty="0"/>
              <a:t>상담 기능에서는 </a:t>
            </a:r>
            <a:r>
              <a:rPr lang="en-US" altLang="ko-KR" dirty="0"/>
              <a:t>Gemini</a:t>
            </a:r>
            <a:r>
              <a:rPr lang="ko-KR" altLang="en-US" dirty="0"/>
              <a:t>를 활용한 </a:t>
            </a:r>
            <a:r>
              <a:rPr lang="en-US" altLang="ko-KR" dirty="0"/>
              <a:t>AI</a:t>
            </a:r>
            <a:r>
              <a:rPr lang="ko-KR" altLang="en-US" dirty="0"/>
              <a:t>기반 물고기 관리 및 건강상태에 대한 답변이 </a:t>
            </a:r>
            <a:r>
              <a:rPr lang="en-US" altLang="ko-KR" dirty="0"/>
              <a:t>24</a:t>
            </a:r>
            <a:r>
              <a:rPr lang="ko-KR" altLang="en-US" dirty="0"/>
              <a:t>시간 가능함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AFB1330-17B0-F65E-75CE-D7E0532E088C}"/>
              </a:ext>
            </a:extLst>
          </p:cNvPr>
          <p:cNvSpPr/>
          <p:nvPr/>
        </p:nvSpPr>
        <p:spPr>
          <a:xfrm>
            <a:off x="6810436" y="1700169"/>
            <a:ext cx="3203251" cy="8053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주요 기능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50B3B6A-6828-C055-6C19-567E76D349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529"/>
          <a:stretch>
            <a:fillRect/>
          </a:stretch>
        </p:blipFill>
        <p:spPr>
          <a:xfrm>
            <a:off x="1566937" y="1476462"/>
            <a:ext cx="3066932" cy="5381538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4D96F32-F651-66E9-4408-53498621B6E3}"/>
              </a:ext>
            </a:extLst>
          </p:cNvPr>
          <p:cNvSpPr/>
          <p:nvPr/>
        </p:nvSpPr>
        <p:spPr>
          <a:xfrm>
            <a:off x="1498777" y="1272330"/>
            <a:ext cx="3203251" cy="5313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초기 설정 이후 화면</a:t>
            </a:r>
          </a:p>
        </p:txBody>
      </p:sp>
    </p:spTree>
    <p:extLst>
      <p:ext uri="{BB962C8B-B14F-4D97-AF65-F5344CB8AC3E}">
        <p14:creationId xmlns:p14="http://schemas.microsoft.com/office/powerpoint/2010/main" val="3427093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94050-7F9F-FF48-20BB-19171C885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AEA0B-5FDB-D353-5995-9B972F67D644}"/>
              </a:ext>
            </a:extLst>
          </p:cNvPr>
          <p:cNvSpPr txBox="1"/>
          <p:nvPr/>
        </p:nvSpPr>
        <p:spPr>
          <a:xfrm>
            <a:off x="0" y="159390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/>
              <a:t>2. </a:t>
            </a:r>
            <a:r>
              <a:rPr lang="ko-KR" altLang="en-US" sz="6000" dirty="0"/>
              <a:t>앱 설계</a:t>
            </a:r>
            <a:r>
              <a:rPr lang="en-US" altLang="ko-KR" sz="6000" dirty="0"/>
              <a:t>-</a:t>
            </a:r>
            <a:r>
              <a:rPr lang="ko-KR" altLang="en-US" sz="6000" dirty="0"/>
              <a:t>센서 연동 작동 확인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963E77F-1E97-C434-025F-9499E43E6986}"/>
              </a:ext>
            </a:extLst>
          </p:cNvPr>
          <p:cNvSpPr/>
          <p:nvPr/>
        </p:nvSpPr>
        <p:spPr>
          <a:xfrm>
            <a:off x="1498920" y="1369800"/>
            <a:ext cx="3203251" cy="8053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AI </a:t>
            </a:r>
            <a:r>
              <a:rPr lang="ko-KR" altLang="en-US" dirty="0"/>
              <a:t>상담 화면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4C63C44-A8D4-A1E5-9881-5AFC4089FB8B}"/>
              </a:ext>
            </a:extLst>
          </p:cNvPr>
          <p:cNvSpPr/>
          <p:nvPr/>
        </p:nvSpPr>
        <p:spPr>
          <a:xfrm>
            <a:off x="5276677" y="2369891"/>
            <a:ext cx="6388216" cy="1619074"/>
          </a:xfrm>
          <a:prstGeom prst="roundRect">
            <a:avLst>
              <a:gd name="adj" fmla="val 378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물고기의 건강 상태나 어항 환경에 대한 질문 가능</a:t>
            </a:r>
            <a:r>
              <a:rPr lang="en-US" altLang="ko-KR" dirty="0"/>
              <a:t>.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C64B6A2-0B51-CF6A-C681-CA4990152E37}"/>
              </a:ext>
            </a:extLst>
          </p:cNvPr>
          <p:cNvSpPr/>
          <p:nvPr/>
        </p:nvSpPr>
        <p:spPr>
          <a:xfrm>
            <a:off x="6797852" y="1369800"/>
            <a:ext cx="3203251" cy="8053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주요 기능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DBCD1D9-ABD3-BC7D-D880-44AA7DFA4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306"/>
          <a:stretch>
            <a:fillRect/>
          </a:stretch>
        </p:blipFill>
        <p:spPr>
          <a:xfrm>
            <a:off x="1121558" y="2369891"/>
            <a:ext cx="3957976" cy="447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491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A8326-B3F9-48E0-02A7-D06720F79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A99643-5D34-D4DB-2E2E-DA9105BA2613}"/>
              </a:ext>
            </a:extLst>
          </p:cNvPr>
          <p:cNvSpPr txBox="1"/>
          <p:nvPr/>
        </p:nvSpPr>
        <p:spPr>
          <a:xfrm>
            <a:off x="0" y="159390"/>
            <a:ext cx="73364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/>
              <a:t>3. </a:t>
            </a:r>
            <a:r>
              <a:rPr lang="ko-KR" altLang="en-US" sz="6000" dirty="0"/>
              <a:t>논문 작성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6F8B48-C873-F2AC-DEFA-AAB46BF1B53F}"/>
              </a:ext>
            </a:extLst>
          </p:cNvPr>
          <p:cNvSpPr txBox="1"/>
          <p:nvPr/>
        </p:nvSpPr>
        <p:spPr>
          <a:xfrm>
            <a:off x="0" y="1367406"/>
            <a:ext cx="100122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논문의 작성 범위 </a:t>
            </a:r>
            <a:r>
              <a:rPr lang="en-US" altLang="ko-KR" dirty="0"/>
              <a:t>(</a:t>
            </a:r>
            <a:r>
              <a:rPr lang="ko-KR" altLang="en-US" dirty="0"/>
              <a:t>소프트웨어로 </a:t>
            </a:r>
            <a:r>
              <a:rPr lang="ko-KR" altLang="en-US" dirty="0" err="1"/>
              <a:t>해야될지</a:t>
            </a:r>
            <a:r>
              <a:rPr lang="ko-KR" altLang="en-US" dirty="0"/>
              <a:t> </a:t>
            </a:r>
            <a:r>
              <a:rPr lang="ko-KR" altLang="en-US" dirty="0" err="1"/>
              <a:t>기계공학쪽으로</a:t>
            </a:r>
            <a:r>
              <a:rPr lang="ko-KR" altLang="en-US" dirty="0"/>
              <a:t> </a:t>
            </a:r>
            <a:r>
              <a:rPr lang="ko-KR" altLang="en-US" err="1"/>
              <a:t>해야될지</a:t>
            </a:r>
            <a:r>
              <a:rPr lang="en-US" altLang="ko-KR"/>
              <a:t>)</a:t>
            </a:r>
          </a:p>
          <a:p>
            <a:endParaRPr lang="en-US" altLang="ko-KR"/>
          </a:p>
          <a:p>
            <a:r>
              <a:rPr lang="ko-KR" altLang="en-US"/>
              <a:t>위 실험 내용으로 논문 작성중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57420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3335A3-4EB6-F5A2-9E2E-A27434DBB5AF}"/>
              </a:ext>
            </a:extLst>
          </p:cNvPr>
          <p:cNvSpPr txBox="1"/>
          <p:nvPr/>
        </p:nvSpPr>
        <p:spPr>
          <a:xfrm>
            <a:off x="0" y="159390"/>
            <a:ext cx="73364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/>
              <a:t>4. </a:t>
            </a:r>
            <a:r>
              <a:rPr lang="ko-KR" altLang="en-US" sz="6000" dirty="0"/>
              <a:t>계획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42851E-CB54-322C-EEDA-B022AED9F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" y="1100304"/>
            <a:ext cx="10205720" cy="571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499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FCD4AD-A32F-EC16-0DD0-83AE1D860557}"/>
              </a:ext>
            </a:extLst>
          </p:cNvPr>
          <p:cNvSpPr txBox="1"/>
          <p:nvPr/>
        </p:nvSpPr>
        <p:spPr>
          <a:xfrm>
            <a:off x="0" y="159390"/>
            <a:ext cx="73364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/>
              <a:t>5. </a:t>
            </a:r>
            <a:r>
              <a:rPr lang="ko-KR" altLang="en-US" sz="6000" dirty="0"/>
              <a:t>평가 계획 </a:t>
            </a:r>
            <a:r>
              <a:rPr lang="ko-KR" altLang="en-US" sz="6000" dirty="0" err="1"/>
              <a:t>부합성</a:t>
            </a:r>
            <a:endParaRPr lang="ko-KR" altLang="en-US" sz="6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34553-3D0F-EA49-DD39-745A25740429}"/>
              </a:ext>
            </a:extLst>
          </p:cNvPr>
          <p:cNvSpPr txBox="1"/>
          <p:nvPr/>
        </p:nvSpPr>
        <p:spPr>
          <a:xfrm>
            <a:off x="0" y="1224871"/>
            <a:ext cx="12155648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ko-KR" sz="16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창의성 및 </a:t>
            </a:r>
            <a:r>
              <a:rPr lang="ko-KR" altLang="ko-KR" sz="1600" b="1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기획성</a:t>
            </a:r>
            <a:r>
              <a:rPr lang="en-US" altLang="ko-KR" sz="16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(30</a:t>
            </a:r>
            <a:r>
              <a:rPr lang="ko-KR" altLang="ko-KR" sz="16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점</a:t>
            </a:r>
            <a:r>
              <a:rPr lang="en-US" altLang="ko-KR" sz="16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기존의 스마트 어항은 비싼 초기비용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이미 완성된 어항에 적용 불가능</a:t>
            </a:r>
          </a:p>
          <a:p>
            <a:pPr latinLnBrk="1">
              <a:spcAft>
                <a:spcPts val="800"/>
              </a:spcAft>
              <a:buNone/>
            </a:pP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 장치는 기존에 완성된 어항에 간단하게 설치 후 앱으로 연동해서 여러가지 상호작용 가능</a:t>
            </a: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 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ko-KR" altLang="ko-KR" sz="16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진행 성과</a:t>
            </a:r>
            <a:r>
              <a:rPr lang="en-US" altLang="ko-KR" sz="16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(20</a:t>
            </a:r>
            <a:r>
              <a:rPr lang="ko-KR" altLang="ko-KR" sz="16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점</a:t>
            </a:r>
            <a:r>
              <a:rPr lang="en-US" altLang="ko-KR" sz="16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지배방정식 및 경계조건 정립하여 물리모델 완성</a:t>
            </a:r>
          </a:p>
          <a:p>
            <a:pPr latinLnBrk="1">
              <a:spcAft>
                <a:spcPts val="800"/>
              </a:spcAft>
              <a:buNone/>
            </a:pP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정성적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CFD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검증 완료</a:t>
            </a: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 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ko-KR" altLang="ko-KR" sz="16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과제 완성 가능성</a:t>
            </a:r>
            <a:r>
              <a:rPr lang="en-US" altLang="ko-KR" sz="16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(20</a:t>
            </a:r>
            <a:r>
              <a:rPr lang="ko-KR" altLang="ko-KR" sz="16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점</a:t>
            </a:r>
            <a:r>
              <a:rPr lang="en-US" altLang="ko-KR" sz="16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위 장치에 대한 특허 출원</a:t>
            </a:r>
          </a:p>
          <a:p>
            <a:pPr latinLnBrk="1">
              <a:spcAft>
                <a:spcPts val="800"/>
              </a:spcAft>
              <a:buNone/>
            </a:pP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위 장치에 대한 실험 및 결과를 논문으로 기재</a:t>
            </a: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개의 수조 사진으로 장애물 배치 분석 및 진단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다양한 애완 어류의 건강과 관련한 알림을 보내주는 앱 개발</a:t>
            </a: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 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ko-KR" altLang="ko-KR" sz="16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기대효과</a:t>
            </a:r>
            <a:r>
              <a:rPr lang="en-US" altLang="ko-KR" sz="16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(30</a:t>
            </a:r>
            <a:r>
              <a:rPr lang="ko-KR" altLang="ko-KR" sz="16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점</a:t>
            </a:r>
            <a:r>
              <a:rPr lang="en-US" altLang="ko-KR" sz="1600" b="1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ko-KR" sz="16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국내 관상어 시장 규모 약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5000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억원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연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7~8%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성장</a:t>
            </a:r>
          </a:p>
          <a:p>
            <a:pPr latinLnBrk="1">
              <a:spcAft>
                <a:spcPts val="800"/>
              </a:spcAft>
              <a:buNone/>
            </a:pP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산소량 부족 예방</a:t>
            </a:r>
            <a:r>
              <a:rPr lang="en-US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폭염 폐사 예방 등 양식장 현장에 적용 가능성 높음</a:t>
            </a:r>
          </a:p>
        </p:txBody>
      </p:sp>
    </p:spTree>
    <p:extLst>
      <p:ext uri="{BB962C8B-B14F-4D97-AF65-F5344CB8AC3E}">
        <p14:creationId xmlns:p14="http://schemas.microsoft.com/office/powerpoint/2010/main" val="1872040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466</Words>
  <Application>Microsoft Office PowerPoint</Application>
  <PresentationFormat>와이드스크린</PresentationFormat>
  <Paragraphs>92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Aptos</vt:lpstr>
      <vt:lpstr>Arial</vt:lpstr>
      <vt:lpstr>Office 테마</vt:lpstr>
      <vt:lpstr>2차 모임 현황 보고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 성준</dc:creator>
  <cp:lastModifiedBy>최 성준</cp:lastModifiedBy>
  <cp:revision>15</cp:revision>
  <dcterms:created xsi:type="dcterms:W3CDTF">2026-08-01T08:24:31Z</dcterms:created>
  <dcterms:modified xsi:type="dcterms:W3CDTF">2026-08-03T08:34:21Z</dcterms:modified>
</cp:coreProperties>
</file>